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Event cover. Replace [Project Title] and the meta strip with the team's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Contents overview. One line per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 Big number + section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content layout: lead paragraph + three supporting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parallel text columns with sub-heads.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left, supporting text right. Drop in a screenshot or diagram.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headline metrics. Big numbers, short labels.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timeline across phases.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Step-by-step methodology with connectors.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Side-by-side comparison of two approaches.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Structured data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member / presenter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Pull quote — vision, testimonial, or guiding principle.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Full-bleed visual with a caption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Restate the tagline; show co-branding and contact.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and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A1708">
                  <a:alpha val="100000"/>
                </a:srgbClr>
              </a:gs>
              <a:gs pos="55000">
                <a:srgbClr val="1B0E05">
                  <a:alpha val="100000"/>
                </a:srgbClr>
              </a:gs>
              <a:gs pos="100000">
                <a:srgbClr val="150A03">
                  <a:alpha val="100000"/>
                </a:srgbClr>
              </a:gs>
            </a:gsLst>
            <a:path path="circle">
              <a:fillToRect l="78000" t="30000" r="22000" b="7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239500" y="-2857500"/>
            <a:ext cx="10477500" cy="10477500"/>
          </a:xfrm>
          <a:prstGeom prst="ellipse">
            <a:avLst/>
          </a:prstGeom>
          <a:ln w="9525">
            <a:solidFill>
              <a:srgbClr val="E2B463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954000" y="-1143000"/>
            <a:ext cx="7048500" cy="7048500"/>
          </a:xfrm>
          <a:prstGeom prst="ellipse">
            <a:avLst/>
          </a:prstGeom>
          <a:ln w="9525">
            <a:solidFill>
              <a:srgbClr val="E2B463">
                <a:alpha val="8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96000"/>
          </a:blip>
          <a:srcRect l="0" r="0" t="-2" b="-2"/>
          <a:stretch/>
        </p:blipFill>
        <p:spPr>
          <a:xfrm>
            <a:off x="13230671" y="1524000"/>
            <a:ext cx="4142929" cy="723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66800" y="900113"/>
            <a:ext cx="323850" cy="9525"/>
          </a:xfrm>
          <a:prstGeom prst="rect">
            <a:avLst/>
          </a:prstGeom>
          <a:solidFill>
            <a:srgbClr val="E2B463"/>
          </a:solidFill>
          <a:ln/>
        </p:spPr>
      </p:sp>
      <p:sp>
        <p:nvSpPr>
          <p:cNvPr id="7" name="Text 4"/>
          <p:cNvSpPr/>
          <p:nvPr/>
        </p:nvSpPr>
        <p:spPr>
          <a:xfrm>
            <a:off x="1562100" y="742950"/>
            <a:ext cx="482704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413" kern="0" dirty="0">
                <a:solidFill>
                  <a:srgbClr val="E2B4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MINDS · 7TH EDITION</a:t>
            </a:r>
            <a:endParaRPr lang="en-US" sz="1875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6923" y="742950"/>
            <a:ext cx="1123950" cy="112395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5884723" y="952500"/>
            <a:ext cx="9525" cy="704850"/>
          </a:xfrm>
          <a:prstGeom prst="rect">
            <a:avLst/>
          </a:prstGeom>
          <a:solidFill>
            <a:srgbClr val="E2B463">
              <a:alpha val="30000"/>
            </a:srgbClr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16218098" y="1066800"/>
            <a:ext cx="1003102" cy="4762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66800" y="4088457"/>
            <a:ext cx="12363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612" kern="0" dirty="0">
                <a:solidFill>
                  <a:srgbClr val="C9B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GRADUATION PROJECT SHOWCASE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1066800" y="4631382"/>
            <a:ext cx="12363450" cy="1148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300" b="1" spc="-186" kern="0" dirty="0">
                <a:gradFill rotWithShape="1">
                  <a:gsLst>
                    <a:gs pos="0">
                      <a:srgbClr val="E7C079">
                        <a:alpha val="100000"/>
                      </a:srgbClr>
                    </a:gs>
                    <a:gs pos="46000">
                      <a:srgbClr val="C8923A">
                        <a:alpha val="100000"/>
                      </a:srgbClr>
                    </a:gs>
                    <a:gs pos="100000">
                      <a:srgbClr val="9E5C20">
                        <a:alpha val="100000"/>
                      </a:srgbClr>
                    </a:gs>
                  </a:gsLst>
                  <a:lin ang="1800000" scaled="0"/>
                </a:gradFill>
                <a:latin typeface="Arial" pitchFamily="34" charset="0"/>
                <a:ea typeface="Arial" pitchFamily="34" charset="-122"/>
                <a:cs typeface="Arial" pitchFamily="34" charset="-120"/>
              </a:rPr>
              <a:t>DEEP MINDS</a:t>
            </a:r>
            <a:endParaRPr lang="en-US" sz="9300" dirty="0"/>
          </a:p>
        </p:txBody>
      </p:sp>
      <p:sp>
        <p:nvSpPr>
          <p:cNvPr id="13" name="Text 8"/>
          <p:cNvSpPr/>
          <p:nvPr/>
        </p:nvSpPr>
        <p:spPr>
          <a:xfrm>
            <a:off x="1066800" y="5970091"/>
            <a:ext cx="123634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spc="26" kern="0" dirty="0">
                <a:solidFill>
                  <a:srgbClr val="F3E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Excellence Takes Center Stage</a:t>
            </a:r>
            <a:endParaRPr lang="en-US" sz="2550" dirty="0"/>
          </a:p>
        </p:txBody>
      </p:sp>
      <p:sp>
        <p:nvSpPr>
          <p:cNvPr id="14" name="Shape 9"/>
          <p:cNvSpPr/>
          <p:nvPr/>
        </p:nvSpPr>
        <p:spPr>
          <a:xfrm>
            <a:off x="1066800" y="8734425"/>
            <a:ext cx="16154400" cy="9525"/>
          </a:xfrm>
          <a:prstGeom prst="rect">
            <a:avLst/>
          </a:prstGeom>
          <a:solidFill>
            <a:srgbClr val="E2B463">
              <a:alpha val="20000"/>
            </a:srgbClr>
          </a:solidFill>
          <a:ln/>
        </p:spPr>
      </p:sp>
      <p:sp>
        <p:nvSpPr>
          <p:cNvPr id="15" name="Text 10"/>
          <p:cNvSpPr/>
          <p:nvPr/>
        </p:nvSpPr>
        <p:spPr>
          <a:xfrm>
            <a:off x="1066800" y="8991600"/>
            <a:ext cx="25650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C7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066800" y="9363075"/>
            <a:ext cx="25650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3E8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Project Title ]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4008239" y="8991600"/>
            <a:ext cx="15087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C7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4008239" y="9363075"/>
            <a:ext cx="15087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3E8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CS-000 ]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5989439" y="8991600"/>
            <a:ext cx="22631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C7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5989439" y="9363075"/>
            <a:ext cx="22631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3E8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Course Name ]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656439" y="8991600"/>
            <a:ext cx="211236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C7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656439" y="9363075"/>
            <a:ext cx="211236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3E8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Month 2026 ]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742950"/>
            <a:ext cx="21164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488" kern="0" dirty="0">
                <a:solidFill>
                  <a:srgbClr val="A75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CONTENTS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66800" y="1238250"/>
            <a:ext cx="211645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42" kern="0" dirty="0">
                <a:solidFill>
                  <a:srgbClr val="2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4340780" y="1562100"/>
            <a:ext cx="316846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C7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sections · ~15 min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66800" y="3209925"/>
            <a:ext cx="7620000" cy="9525"/>
          </a:xfrm>
          <a:prstGeom prst="rect">
            <a:avLst/>
          </a:prstGeom>
          <a:solidFill>
            <a:srgbClr val="A75E22">
              <a:alpha val="2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2600325"/>
            <a:ext cx="5905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847850" y="2638425"/>
            <a:ext cx="255094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066800" y="5356175"/>
            <a:ext cx="7620000" cy="9525"/>
          </a:xfrm>
          <a:prstGeom prst="rect">
            <a:avLst/>
          </a:prstGeom>
          <a:solidFill>
            <a:srgbClr val="A75E22">
              <a:alpha val="2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4746575"/>
            <a:ext cx="5905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847850" y="4784675"/>
            <a:ext cx="324917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Objectives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066800" y="7502575"/>
            <a:ext cx="7620000" cy="9525"/>
          </a:xfrm>
          <a:prstGeom prst="rect">
            <a:avLst/>
          </a:prstGeom>
          <a:solidFill>
            <a:srgbClr val="A75E22">
              <a:alpha val="2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66800" y="6892975"/>
            <a:ext cx="5905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847850" y="6931075"/>
            <a:ext cx="279405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66800" y="9648825"/>
            <a:ext cx="7620000" cy="9525"/>
          </a:xfrm>
          <a:prstGeom prst="rect">
            <a:avLst/>
          </a:prstGeom>
          <a:solidFill>
            <a:srgbClr val="A75E22">
              <a:alpha val="2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66800" y="9039225"/>
            <a:ext cx="5905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847850" y="9077325"/>
            <a:ext cx="195552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601200" y="3209925"/>
            <a:ext cx="7620000" cy="9525"/>
          </a:xfrm>
          <a:prstGeom prst="rect">
            <a:avLst/>
          </a:prstGeom>
          <a:solidFill>
            <a:srgbClr val="A75E22">
              <a:alpha val="2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0" y="2600325"/>
            <a:ext cx="5905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0382250" y="2638425"/>
            <a:ext cx="384278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&amp; Implementation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601200" y="5356175"/>
            <a:ext cx="7620000" cy="9525"/>
          </a:xfrm>
          <a:prstGeom prst="rect">
            <a:avLst/>
          </a:prstGeom>
          <a:solidFill>
            <a:srgbClr val="A75E22">
              <a:alpha val="2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0" y="4746575"/>
            <a:ext cx="5905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0382250" y="4784675"/>
            <a:ext cx="312655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Evaluation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9601200" y="7502575"/>
            <a:ext cx="7620000" cy="9525"/>
          </a:xfrm>
          <a:prstGeom prst="rect">
            <a:avLst/>
          </a:prstGeom>
          <a:solidFill>
            <a:srgbClr val="A75E22">
              <a:alpha val="2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0" y="6892975"/>
            <a:ext cx="5905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0382250" y="6931075"/>
            <a:ext cx="281189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&amp; Value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9601200" y="9648825"/>
            <a:ext cx="7620000" cy="9525"/>
          </a:xfrm>
          <a:prstGeom prst="rect">
            <a:avLst/>
          </a:prstGeom>
          <a:solidFill>
            <a:srgbClr val="A75E22">
              <a:alpha val="2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0" y="9039225"/>
            <a:ext cx="5905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10382250" y="9077325"/>
            <a:ext cx="395836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A1708">
                  <a:alpha val="100000"/>
                </a:srgbClr>
              </a:gs>
              <a:gs pos="60000">
                <a:srgbClr val="1B0E05">
                  <a:alpha val="100000"/>
                </a:srgbClr>
              </a:gs>
            </a:gsLst>
            <a:path path="circle">
              <a:fillToRect l="12000" t="20000" r="88000" b="80000"/>
            </a:path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000"/>
          </a:blip>
          <a:stretch>
            <a:fillRect/>
          </a:stretch>
        </p:blipFill>
        <p:spPr>
          <a:xfrm>
            <a:off x="13239750" y="5238750"/>
            <a:ext cx="6477000" cy="647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57150" cy="10287000"/>
          </a:xfrm>
          <a:prstGeom prst="rect">
            <a:avLst/>
          </a:prstGeom>
          <a:gradFill rotWithShape="1">
            <a:gsLst>
              <a:gs pos="0">
                <a:srgbClr val="E7C079">
                  <a:alpha val="100000"/>
                </a:srgbClr>
              </a:gs>
              <a:gs pos="46000">
                <a:srgbClr val="C8923A">
                  <a:alpha val="100000"/>
                </a:srgbClr>
              </a:gs>
              <a:gs pos="100000">
                <a:srgbClr val="9E5C20">
                  <a:alpha val="100000"/>
                </a:srgbClr>
              </a:gs>
            </a:gsLst>
            <a:lin ang="1800000" scaled="0"/>
          </a:gradFill>
          <a:ln/>
        </p:spPr>
      </p:sp>
      <p:sp>
        <p:nvSpPr>
          <p:cNvPr id="5" name="Text 2"/>
          <p:cNvSpPr/>
          <p:nvPr/>
        </p:nvSpPr>
        <p:spPr>
          <a:xfrm>
            <a:off x="1066800" y="2828925"/>
            <a:ext cx="177698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563" kern="0" dirty="0">
                <a:solidFill>
                  <a:srgbClr val="E2B4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01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1066800" y="3438525"/>
            <a:ext cx="17769840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2500" spc="-900" kern="0" dirty="0">
                <a:solidFill>
                  <a:srgbClr val="E2B463">
                    <a:alpha val="1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500" dirty="0"/>
          </a:p>
        </p:txBody>
      </p:sp>
      <p:sp>
        <p:nvSpPr>
          <p:cNvPr id="7" name="Text 4"/>
          <p:cNvSpPr/>
          <p:nvPr/>
        </p:nvSpPr>
        <p:spPr>
          <a:xfrm>
            <a:off x="1066800" y="5343525"/>
            <a:ext cx="1776984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b="1" spc="-99" kern="0" dirty="0">
                <a:gradFill rotWithShape="1">
                  <a:gsLst>
                    <a:gs pos="0">
                      <a:srgbClr val="E7C079">
                        <a:alpha val="100000"/>
                      </a:srgbClr>
                    </a:gs>
                    <a:gs pos="46000">
                      <a:srgbClr val="C8923A">
                        <a:alpha val="100000"/>
                      </a:srgbClr>
                    </a:gs>
                    <a:gs pos="100000">
                      <a:srgbClr val="9E5C20">
                        <a:alpha val="100000"/>
                      </a:srgbClr>
                    </a:gs>
                  </a:gsLst>
                  <a:lin ang="1800000" scaled="0"/>
                </a:gra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6600" dirty="0"/>
          </a:p>
        </p:txBody>
      </p:sp>
      <p:sp>
        <p:nvSpPr>
          <p:cNvPr id="8" name="Text 5"/>
          <p:cNvSpPr/>
          <p:nvPr/>
        </p:nvSpPr>
        <p:spPr>
          <a:xfrm>
            <a:off x="1066800" y="6600825"/>
            <a:ext cx="745617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C9B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framing line for the section — set context for what the audience is about to see.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742950"/>
            <a:ext cx="177698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488" kern="0" dirty="0">
                <a:solidFill>
                  <a:srgbClr val="A75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66800" y="1238250"/>
            <a:ext cx="1776984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42" kern="0" dirty="0">
                <a:solidFill>
                  <a:srgbClr val="2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66800" y="2295525"/>
            <a:ext cx="1275397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2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concise, one or two sentence introduction that a non-expert could understand — what was built and the value it creates. Keep it human and direct.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066800" y="3648075"/>
            <a:ext cx="5118050" cy="19050"/>
          </a:xfrm>
          <a:prstGeom prst="rect">
            <a:avLst/>
          </a:prstGeom>
          <a:solidFill>
            <a:srgbClr val="C8923A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3914775"/>
            <a:ext cx="562985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066800" y="4438650"/>
            <a:ext cx="5271592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5B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introduction to the project and what it does at a glance.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4900" y="3648075"/>
            <a:ext cx="5118050" cy="19050"/>
          </a:xfrm>
          <a:prstGeom prst="rect">
            <a:avLst/>
          </a:prstGeom>
          <a:solidFill>
            <a:srgbClr val="C8923A"/>
          </a:solidFill>
          <a:ln/>
        </p:spPr>
      </p:sp>
      <p:sp>
        <p:nvSpPr>
          <p:cNvPr id="9" name="Text 7"/>
          <p:cNvSpPr/>
          <p:nvPr/>
        </p:nvSpPr>
        <p:spPr>
          <a:xfrm>
            <a:off x="6584900" y="3914775"/>
            <a:ext cx="562985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Achieves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6584900" y="4438650"/>
            <a:ext cx="5271592" cy="746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5B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aim — the problem it solves or the value it creates.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103001" y="3648075"/>
            <a:ext cx="5118050" cy="19050"/>
          </a:xfrm>
          <a:prstGeom prst="rect">
            <a:avLst/>
          </a:prstGeom>
          <a:solidFill>
            <a:srgbClr val="C8923A"/>
          </a:solidFill>
          <a:ln/>
        </p:spPr>
      </p:sp>
      <p:sp>
        <p:nvSpPr>
          <p:cNvPr id="12" name="Text 10"/>
          <p:cNvSpPr/>
          <p:nvPr/>
        </p:nvSpPr>
        <p:spPr>
          <a:xfrm>
            <a:off x="12103001" y="3914775"/>
            <a:ext cx="562985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2103001" y="4438650"/>
            <a:ext cx="562985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5B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relevance to the real world or academic field.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66800" y="9134475"/>
            <a:ext cx="16154400" cy="9525"/>
          </a:xfrm>
          <a:prstGeom prst="rect">
            <a:avLst/>
          </a:prstGeom>
          <a:solidFill>
            <a:srgbClr val="A75E22">
              <a:alpha val="2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66800" y="9334500"/>
            <a:ext cx="477790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8C7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MINDS — 7TH EDITION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6859101" y="9334500"/>
            <a:ext cx="43829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8C7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742950"/>
            <a:ext cx="177698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488" kern="0" dirty="0">
                <a:solidFill>
                  <a:srgbClr val="A75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66800" y="1238250"/>
            <a:ext cx="1776984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42" kern="0" dirty="0">
                <a:solidFill>
                  <a:srgbClr val="2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&amp; Existing Solutions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66800" y="2295525"/>
            <a:ext cx="821436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6E3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Methods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066800" y="2914650"/>
            <a:ext cx="3181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C8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80245" y="2933700"/>
            <a:ext cx="458790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B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approach or tool people use today.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6800" y="3486150"/>
            <a:ext cx="3181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C8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80245" y="3505200"/>
            <a:ext cx="452812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B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established method in this space.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6800" y="4057650"/>
            <a:ext cx="3181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C89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80245" y="4076700"/>
            <a:ext cx="472050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B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work others have done on the problem.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0" y="2295525"/>
            <a:ext cx="9525" cy="6553200"/>
          </a:xfrm>
          <a:prstGeom prst="rect">
            <a:avLst/>
          </a:prstGeom>
          <a:solidFill>
            <a:srgbClr val="A75E22">
              <a:alpha val="2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763125" y="2295525"/>
            <a:ext cx="820388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6E3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Gaps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763125" y="2914650"/>
            <a:ext cx="3181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B3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176570" y="2933700"/>
            <a:ext cx="396844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B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existing solutions fail to do well.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763125" y="3486150"/>
            <a:ext cx="3181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B3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176570" y="3505200"/>
            <a:ext cx="3883217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B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limitation in cost, speed, or access.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763125" y="4057650"/>
            <a:ext cx="3181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B3A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176570" y="4076700"/>
            <a:ext cx="4340797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B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opening this justifies for your project.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66800" y="9134475"/>
            <a:ext cx="16154400" cy="9525"/>
          </a:xfrm>
          <a:prstGeom prst="rect">
            <a:avLst/>
          </a:prstGeom>
          <a:solidFill>
            <a:srgbClr val="A75E22">
              <a:alpha val="2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66800" y="9334500"/>
            <a:ext cx="477790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8C7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MINDS — 7TH EDITION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6859101" y="9334500"/>
            <a:ext cx="43829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8C7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742950"/>
            <a:ext cx="177698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488" kern="0" dirty="0">
                <a:solidFill>
                  <a:srgbClr val="A75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66800" y="1238250"/>
            <a:ext cx="1776984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42" kern="0" dirty="0">
                <a:solidFill>
                  <a:srgbClr val="2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Idea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66800" y="2238375"/>
            <a:ext cx="7961858" cy="6610350"/>
          </a:xfrm>
          <a:prstGeom prst="roundRect">
            <a:avLst>
              <a:gd name="adj" fmla="val 865"/>
            </a:avLst>
          </a:prstGeom>
          <a:solidFill>
            <a:srgbClr val="EEE3CC"/>
          </a:solidFill>
          <a:ln w="9525">
            <a:solidFill>
              <a:srgbClr val="A75E22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63007" y="5262563"/>
            <a:ext cx="4369445" cy="561975"/>
          </a:xfrm>
          <a:prstGeom prst="roundRect">
            <a:avLst>
              <a:gd name="adj" fmla="val 6780"/>
            </a:avLst>
          </a:prstGeom>
          <a:solidFill>
            <a:srgbClr val="FAF4E8"/>
          </a:solidFill>
          <a:ln/>
        </p:spPr>
      </p:sp>
      <p:sp>
        <p:nvSpPr>
          <p:cNvPr id="6" name="Text 4"/>
          <p:cNvSpPr/>
          <p:nvPr/>
        </p:nvSpPr>
        <p:spPr>
          <a:xfrm>
            <a:off x="3072557" y="5395912"/>
            <a:ext cx="408142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9B87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product / screenshot ]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38258" y="3731865"/>
            <a:ext cx="781043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2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two or three sentences, describe the solution and what makes it different — your elevator pitch.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638258" y="4932015"/>
            <a:ext cx="3734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145018" y="4932015"/>
            <a:ext cx="48577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Approach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145018" y="5255865"/>
            <a:ext cx="4857795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B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method, model, or technique you used.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38258" y="5815905"/>
            <a:ext cx="3734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145018" y="5815905"/>
            <a:ext cx="50914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Closes the Gap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145018" y="6139755"/>
            <a:ext cx="509141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B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the solution to the limitations above.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38258" y="6699796"/>
            <a:ext cx="37341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145018" y="6699796"/>
            <a:ext cx="457817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Differentiator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145018" y="7023646"/>
            <a:ext cx="457817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B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Speed, accuracy, ease of use, or novelty.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66800" y="9134475"/>
            <a:ext cx="16154400" cy="9525"/>
          </a:xfrm>
          <a:prstGeom prst="rect">
            <a:avLst/>
          </a:prstGeom>
          <a:solidFill>
            <a:srgbClr val="A75E22">
              <a:alpha val="2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66800" y="9334500"/>
            <a:ext cx="477790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8C7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MINDS — 7TH EDITION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6859101" y="9334500"/>
            <a:ext cx="43829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8C7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A1708">
                  <a:alpha val="100000"/>
                </a:srgbClr>
              </a:gs>
              <a:gs pos="60000">
                <a:srgbClr val="1B0E05">
                  <a:alpha val="100000"/>
                </a:srgbClr>
              </a:gs>
            </a:gsLst>
            <a:path path="circle">
              <a:fillToRect l="85000" t="15000" r="15000" b="85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2857500" y="5143500"/>
            <a:ext cx="8572500" cy="8572500"/>
          </a:xfrm>
          <a:prstGeom prst="ellipse">
            <a:avLst/>
          </a:prstGeom>
          <a:ln w="9525">
            <a:solidFill>
              <a:srgbClr val="E2B463">
                <a:alpha val="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6800" y="742950"/>
            <a:ext cx="177698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488" kern="0" dirty="0">
                <a:solidFill>
                  <a:srgbClr val="E2B4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1066800" y="1238250"/>
            <a:ext cx="1776984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42" kern="0" dirty="0">
                <a:solidFill>
                  <a:srgbClr val="F3E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Evaluation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6442025" y="4324350"/>
            <a:ext cx="9525" cy="2343150"/>
          </a:xfrm>
          <a:prstGeom prst="rect">
            <a:avLst/>
          </a:prstGeom>
          <a:solidFill>
            <a:srgbClr val="E2B463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4324350"/>
            <a:ext cx="5326008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0" b="1" spc="-337" kern="0" dirty="0">
                <a:gradFill rotWithShape="1">
                  <a:gsLst>
                    <a:gs pos="0">
                      <a:srgbClr val="E7C079">
                        <a:alpha val="100000"/>
                      </a:srgbClr>
                    </a:gs>
                    <a:gs pos="46000">
                      <a:srgbClr val="C8923A">
                        <a:alpha val="100000"/>
                      </a:srgbClr>
                    </a:gs>
                    <a:gs pos="100000">
                      <a:srgbClr val="9E5C20">
                        <a:alpha val="100000"/>
                      </a:srgbClr>
                    </a:gs>
                  </a:gsLst>
                  <a:lin ang="1800000" scaled="0"/>
                </a:gra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11250" dirty="0"/>
          </a:p>
        </p:txBody>
      </p:sp>
      <p:sp>
        <p:nvSpPr>
          <p:cNvPr id="8" name="Text 6"/>
          <p:cNvSpPr/>
          <p:nvPr/>
        </p:nvSpPr>
        <p:spPr>
          <a:xfrm>
            <a:off x="1066800" y="5924550"/>
            <a:ext cx="532600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3E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066800" y="6372225"/>
            <a:ext cx="53260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9B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success rate on the held-out test set.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826776" y="4324350"/>
            <a:ext cx="9525" cy="2343150"/>
          </a:xfrm>
          <a:prstGeom prst="rect">
            <a:avLst/>
          </a:prstGeom>
          <a:solidFill>
            <a:srgbClr val="E2B463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984950" y="4324350"/>
            <a:ext cx="4739268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0" b="1" spc="-337" kern="0" dirty="0">
                <a:gradFill rotWithShape="1">
                  <a:gsLst>
                    <a:gs pos="0">
                      <a:srgbClr val="E7C079">
                        <a:alpha val="100000"/>
                      </a:srgbClr>
                    </a:gs>
                    <a:gs pos="46000">
                      <a:srgbClr val="C8923A">
                        <a:alpha val="100000"/>
                      </a:srgbClr>
                    </a:gs>
                    <a:gs pos="100000">
                      <a:srgbClr val="9E5C20">
                        <a:alpha val="100000"/>
                      </a:srgbClr>
                    </a:gs>
                  </a:gsLst>
                  <a:lin ang="1800000" scaled="0"/>
                </a:gra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11250" dirty="0"/>
          </a:p>
        </p:txBody>
      </p:sp>
      <p:sp>
        <p:nvSpPr>
          <p:cNvPr id="12" name="Text 10"/>
          <p:cNvSpPr/>
          <p:nvPr/>
        </p:nvSpPr>
        <p:spPr>
          <a:xfrm>
            <a:off x="6984950" y="5924550"/>
            <a:ext cx="473926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3E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Tested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6984950" y="6372225"/>
            <a:ext cx="473926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9B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Participants in usability and field testing.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69701" y="4324350"/>
            <a:ext cx="5336485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0" b="1" spc="-337" kern="0" dirty="0">
                <a:gradFill rotWithShape="1">
                  <a:gsLst>
                    <a:gs pos="0">
                      <a:srgbClr val="E7C079">
                        <a:alpha val="100000"/>
                      </a:srgbClr>
                    </a:gs>
                    <a:gs pos="46000">
                      <a:srgbClr val="C8923A">
                        <a:alpha val="100000"/>
                      </a:srgbClr>
                    </a:gs>
                    <a:gs pos="100000">
                      <a:srgbClr val="9E5C20">
                        <a:alpha val="100000"/>
                      </a:srgbClr>
                    </a:gs>
                  </a:gsLst>
                  <a:lin ang="1800000" scaled="0"/>
                </a:gradFill>
                <a:latin typeface="Arial" pitchFamily="34" charset="0"/>
                <a:ea typeface="Arial" pitchFamily="34" charset="-122"/>
                <a:cs typeface="Arial" pitchFamily="34" charset="-120"/>
              </a:rPr>
              <a:t>+38%</a:t>
            </a:r>
            <a:endParaRPr lang="en-US" sz="11250" dirty="0"/>
          </a:p>
        </p:txBody>
      </p:sp>
      <p:sp>
        <p:nvSpPr>
          <p:cNvPr id="15" name="Text 13"/>
          <p:cNvSpPr/>
          <p:nvPr/>
        </p:nvSpPr>
        <p:spPr>
          <a:xfrm>
            <a:off x="12369701" y="5924550"/>
            <a:ext cx="53364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3E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Baseline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2369701" y="6372225"/>
            <a:ext cx="533648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9B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over the prior best approach.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66800" y="9134475"/>
            <a:ext cx="16154400" cy="9525"/>
          </a:xfrm>
          <a:prstGeom prst="rect">
            <a:avLst/>
          </a:prstGeom>
          <a:solidFill>
            <a:srgbClr val="E2B463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66800" y="9334500"/>
            <a:ext cx="477790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C9B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MINDS — 7TH EDITION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6859101" y="9334500"/>
            <a:ext cx="43829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C9B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742950"/>
            <a:ext cx="177698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488" kern="0" dirty="0">
                <a:solidFill>
                  <a:srgbClr val="A75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TIMELINE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66800" y="1238250"/>
            <a:ext cx="1776984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42" kern="0" dirty="0">
                <a:solidFill>
                  <a:srgbClr val="2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Roadmap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66800" y="4816822"/>
            <a:ext cx="16154400" cy="19050"/>
          </a:xfrm>
          <a:prstGeom prst="rect">
            <a:avLst/>
          </a:prstGeom>
          <a:solidFill>
            <a:srgbClr val="A75E22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66800" y="4816822"/>
            <a:ext cx="9692580" cy="19050"/>
          </a:xfrm>
          <a:prstGeom prst="rect">
            <a:avLst/>
          </a:prstGeom>
          <a:gradFill rotWithShape="1">
            <a:gsLst>
              <a:gs pos="0">
                <a:srgbClr val="E7C079">
                  <a:alpha val="100000"/>
                </a:srgbClr>
              </a:gs>
              <a:gs pos="46000">
                <a:srgbClr val="C8923A">
                  <a:alpha val="100000"/>
                </a:srgbClr>
              </a:gs>
              <a:gs pos="100000">
                <a:srgbClr val="9E5C20">
                  <a:alpha val="100000"/>
                </a:srgbClr>
              </a:gs>
            </a:gsLst>
            <a:lin ang="1800000" scaled="0"/>
          </a:gradFill>
          <a:ln/>
        </p:spPr>
      </p:sp>
      <p:sp>
        <p:nvSpPr>
          <p:cNvPr id="6" name="Shape 4"/>
          <p:cNvSpPr/>
          <p:nvPr/>
        </p:nvSpPr>
        <p:spPr>
          <a:xfrm>
            <a:off x="1066800" y="4712047"/>
            <a:ext cx="228600" cy="228600"/>
          </a:xfrm>
          <a:prstGeom prst="ellipse">
            <a:avLst/>
          </a:prstGeom>
          <a:solidFill>
            <a:srgbClr val="C8923A"/>
          </a:solidFill>
          <a:ln w="38100">
            <a:solidFill>
              <a:srgbClr val="FAF4E8"/>
            </a:solidFill>
            <a:prstDash val="solid"/>
          </a:ln>
          <a:effectLst>
            <a:outerShdw sx="100000" sy="100000" kx="0" ky="0" algn="bl" rotWithShape="0" blurRad="101600" dist="50800" dir="16200000">
              <a:srgbClr val="C8923A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66800" y="5188297"/>
            <a:ext cx="32395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C7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1–2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6800" y="5578822"/>
            <a:ext cx="323951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6800" y="5940772"/>
            <a:ext cx="3033361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B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Scope, literature, requirements.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297561" y="4712047"/>
            <a:ext cx="228600" cy="228600"/>
          </a:xfrm>
          <a:prstGeom prst="ellipse">
            <a:avLst/>
          </a:prstGeom>
          <a:solidFill>
            <a:srgbClr val="C8923A"/>
          </a:solidFill>
          <a:ln w="38100">
            <a:solidFill>
              <a:srgbClr val="FAF4E8"/>
            </a:solidFill>
            <a:prstDash val="solid"/>
          </a:ln>
          <a:effectLst>
            <a:outerShdw sx="100000" sy="100000" kx="0" ky="0" algn="bl" rotWithShape="0" blurRad="101600" dist="50800" dir="16200000">
              <a:srgbClr val="C8923A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97561" y="5188297"/>
            <a:ext cx="323967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C7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3–4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97561" y="5578822"/>
            <a:ext cx="323967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97561" y="5940772"/>
            <a:ext cx="3033515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B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UX, data model.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528471" y="4712047"/>
            <a:ext cx="228600" cy="228600"/>
          </a:xfrm>
          <a:prstGeom prst="ellipse">
            <a:avLst/>
          </a:prstGeom>
          <a:solidFill>
            <a:srgbClr val="C8923A"/>
          </a:solidFill>
          <a:ln w="38100">
            <a:solidFill>
              <a:srgbClr val="FAF4E8"/>
            </a:solidFill>
            <a:prstDash val="solid"/>
          </a:ln>
          <a:effectLst>
            <a:outerShdw sx="100000" sy="100000" kx="0" ky="0" algn="bl" rotWithShape="0" blurRad="101600" dist="50800" dir="16200000">
              <a:srgbClr val="C8923A">
                <a:alpha val="10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28471" y="5188297"/>
            <a:ext cx="323967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C7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5–8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528471" y="5578822"/>
            <a:ext cx="323967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528471" y="5940772"/>
            <a:ext cx="3033515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B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core features iteratively.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759380" y="4712047"/>
            <a:ext cx="228600" cy="228600"/>
          </a:xfrm>
          <a:prstGeom prst="ellipse">
            <a:avLst/>
          </a:prstGeom>
          <a:solidFill>
            <a:srgbClr val="FAF4E8"/>
          </a:solidFill>
          <a:ln w="28575">
            <a:solidFill>
              <a:srgbClr val="C9B6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59380" y="5188297"/>
            <a:ext cx="323967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C7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9–10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759380" y="5578822"/>
            <a:ext cx="323967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759380" y="5940772"/>
            <a:ext cx="323967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B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Evaluation, fixes, tuning.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990290" y="4712047"/>
            <a:ext cx="228600" cy="228600"/>
          </a:xfrm>
          <a:prstGeom prst="ellipse">
            <a:avLst/>
          </a:prstGeom>
          <a:solidFill>
            <a:srgbClr val="FAF4E8"/>
          </a:solidFill>
          <a:ln w="28575">
            <a:solidFill>
              <a:srgbClr val="C9B6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990290" y="5188297"/>
            <a:ext cx="355400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C7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11–12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990290" y="5578822"/>
            <a:ext cx="355400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990290" y="5940772"/>
            <a:ext cx="355400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B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Release, docs, handover.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66800" y="9134475"/>
            <a:ext cx="16154400" cy="9525"/>
          </a:xfrm>
          <a:prstGeom prst="rect">
            <a:avLst/>
          </a:prstGeom>
          <a:solidFill>
            <a:srgbClr val="A75E22">
              <a:alpha val="2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066800" y="9334500"/>
            <a:ext cx="477790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8C7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MINDS — 7TH EDITION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16859101" y="9334500"/>
            <a:ext cx="43829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8C7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8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742950"/>
            <a:ext cx="177698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488" kern="0" dirty="0">
                <a:solidFill>
                  <a:srgbClr val="A75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METHODOLOGY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66800" y="1238250"/>
            <a:ext cx="1776984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42" kern="0" dirty="0">
                <a:solidFill>
                  <a:srgbClr val="2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Process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66800" y="4246215"/>
            <a:ext cx="2636490" cy="2727871"/>
          </a:xfrm>
          <a:prstGeom prst="roundRect">
            <a:avLst>
              <a:gd name="adj" fmla="val 2890"/>
            </a:avLst>
          </a:prstGeom>
          <a:solidFill>
            <a:srgbClr val="EFE4CC"/>
          </a:solidFill>
          <a:ln/>
        </p:spPr>
      </p:sp>
      <p:sp>
        <p:nvSpPr>
          <p:cNvPr id="5" name="Shape 3"/>
          <p:cNvSpPr/>
          <p:nvPr/>
        </p:nvSpPr>
        <p:spPr>
          <a:xfrm>
            <a:off x="1066800" y="4246215"/>
            <a:ext cx="2636490" cy="28575"/>
          </a:xfrm>
          <a:prstGeom prst="rect">
            <a:avLst/>
          </a:prstGeom>
          <a:solidFill>
            <a:srgbClr val="C8923A"/>
          </a:solidFill>
          <a:ln/>
        </p:spPr>
      </p:sp>
      <p:sp>
        <p:nvSpPr>
          <p:cNvPr id="6" name="Text 4"/>
          <p:cNvSpPr/>
          <p:nvPr/>
        </p:nvSpPr>
        <p:spPr>
          <a:xfrm>
            <a:off x="1390650" y="4655790"/>
            <a:ext cx="218766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90650" y="5217765"/>
            <a:ext cx="218766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&amp; Plan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90650" y="5598765"/>
            <a:ext cx="2064990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B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scope and gather requirements.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912840" y="5405438"/>
            <a:ext cx="4000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C9B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4446240" y="4412010"/>
            <a:ext cx="2636639" cy="2396430"/>
          </a:xfrm>
          <a:prstGeom prst="roundRect">
            <a:avLst>
              <a:gd name="adj" fmla="val 3180"/>
            </a:avLst>
          </a:prstGeom>
          <a:solidFill>
            <a:srgbClr val="EFE4CC"/>
          </a:solidFill>
          <a:ln/>
        </p:spPr>
      </p:sp>
      <p:sp>
        <p:nvSpPr>
          <p:cNvPr id="11" name="Shape 9"/>
          <p:cNvSpPr/>
          <p:nvPr/>
        </p:nvSpPr>
        <p:spPr>
          <a:xfrm>
            <a:off x="4446240" y="4412010"/>
            <a:ext cx="2636639" cy="28575"/>
          </a:xfrm>
          <a:prstGeom prst="rect">
            <a:avLst/>
          </a:prstGeom>
          <a:solidFill>
            <a:srgbClr val="C8923A"/>
          </a:solidFill>
          <a:ln/>
        </p:spPr>
      </p:sp>
      <p:sp>
        <p:nvSpPr>
          <p:cNvPr id="12" name="Text 10"/>
          <p:cNvSpPr/>
          <p:nvPr/>
        </p:nvSpPr>
        <p:spPr>
          <a:xfrm>
            <a:off x="4770090" y="4821585"/>
            <a:ext cx="218783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4770090" y="5383560"/>
            <a:ext cx="218783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70090" y="5764560"/>
            <a:ext cx="2065139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B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architecture and interfaces.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292429" y="5405438"/>
            <a:ext cx="4000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C9B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7825829" y="4412010"/>
            <a:ext cx="2636490" cy="2396430"/>
          </a:xfrm>
          <a:prstGeom prst="roundRect">
            <a:avLst>
              <a:gd name="adj" fmla="val 3180"/>
            </a:avLst>
          </a:prstGeom>
          <a:solidFill>
            <a:srgbClr val="EFE4CC"/>
          </a:solidFill>
          <a:ln/>
        </p:spPr>
      </p:sp>
      <p:sp>
        <p:nvSpPr>
          <p:cNvPr id="17" name="Shape 15"/>
          <p:cNvSpPr/>
          <p:nvPr/>
        </p:nvSpPr>
        <p:spPr>
          <a:xfrm>
            <a:off x="7825829" y="4412010"/>
            <a:ext cx="2636490" cy="28575"/>
          </a:xfrm>
          <a:prstGeom prst="rect">
            <a:avLst/>
          </a:prstGeom>
          <a:solidFill>
            <a:srgbClr val="C8923A"/>
          </a:solidFill>
          <a:ln/>
        </p:spPr>
      </p:sp>
      <p:sp>
        <p:nvSpPr>
          <p:cNvPr id="18" name="Text 16"/>
          <p:cNvSpPr/>
          <p:nvPr/>
        </p:nvSpPr>
        <p:spPr>
          <a:xfrm>
            <a:off x="8149679" y="4821585"/>
            <a:ext cx="218766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8149679" y="5383560"/>
            <a:ext cx="218766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149679" y="5764560"/>
            <a:ext cx="2064990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B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features in iterations.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671870" y="5405438"/>
            <a:ext cx="4000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C9B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11205270" y="4412010"/>
            <a:ext cx="2636490" cy="2396430"/>
          </a:xfrm>
          <a:prstGeom prst="roundRect">
            <a:avLst>
              <a:gd name="adj" fmla="val 3180"/>
            </a:avLst>
          </a:prstGeom>
          <a:solidFill>
            <a:srgbClr val="EFE4CC"/>
          </a:solidFill>
          <a:ln/>
        </p:spPr>
      </p:sp>
      <p:sp>
        <p:nvSpPr>
          <p:cNvPr id="23" name="Shape 21"/>
          <p:cNvSpPr/>
          <p:nvPr/>
        </p:nvSpPr>
        <p:spPr>
          <a:xfrm>
            <a:off x="11205270" y="4412010"/>
            <a:ext cx="2636490" cy="28575"/>
          </a:xfrm>
          <a:prstGeom prst="rect">
            <a:avLst/>
          </a:prstGeom>
          <a:solidFill>
            <a:srgbClr val="C8923A"/>
          </a:solidFill>
          <a:ln/>
        </p:spPr>
      </p:sp>
      <p:sp>
        <p:nvSpPr>
          <p:cNvPr id="24" name="Text 22"/>
          <p:cNvSpPr/>
          <p:nvPr/>
        </p:nvSpPr>
        <p:spPr>
          <a:xfrm>
            <a:off x="11529120" y="4821585"/>
            <a:ext cx="218766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892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1529120" y="5383560"/>
            <a:ext cx="218766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529120" y="5764560"/>
            <a:ext cx="2064990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5B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Evaluate, measure, refine.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051310" y="5405438"/>
            <a:ext cx="4000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C9B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28" name="Shape 26"/>
          <p:cNvSpPr/>
          <p:nvPr/>
        </p:nvSpPr>
        <p:spPr>
          <a:xfrm>
            <a:off x="14584710" y="4412010"/>
            <a:ext cx="2636490" cy="2396430"/>
          </a:xfrm>
          <a:prstGeom prst="roundRect">
            <a:avLst>
              <a:gd name="adj" fmla="val 3180"/>
            </a:avLst>
          </a:prstGeom>
          <a:solidFill>
            <a:srgbClr val="1B0E05"/>
          </a:solidFill>
          <a:ln/>
        </p:spPr>
      </p:sp>
      <p:sp>
        <p:nvSpPr>
          <p:cNvPr id="29" name="Shape 27"/>
          <p:cNvSpPr/>
          <p:nvPr/>
        </p:nvSpPr>
        <p:spPr>
          <a:xfrm>
            <a:off x="14584710" y="4412010"/>
            <a:ext cx="2636490" cy="28575"/>
          </a:xfrm>
          <a:prstGeom prst="rect">
            <a:avLst/>
          </a:prstGeom>
          <a:solidFill>
            <a:srgbClr val="5B3A86"/>
          </a:solidFill>
          <a:ln/>
        </p:spPr>
      </p:sp>
      <p:sp>
        <p:nvSpPr>
          <p:cNvPr id="30" name="Text 28"/>
          <p:cNvSpPr/>
          <p:nvPr/>
        </p:nvSpPr>
        <p:spPr>
          <a:xfrm>
            <a:off x="14908560" y="4821585"/>
            <a:ext cx="218766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E2B4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4908560" y="5383560"/>
            <a:ext cx="218766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E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908560" y="5764560"/>
            <a:ext cx="2064990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B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and hand over.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066800" y="9134475"/>
            <a:ext cx="16154400" cy="9525"/>
          </a:xfrm>
          <a:prstGeom prst="rect">
            <a:avLst/>
          </a:prstGeom>
          <a:solidFill>
            <a:srgbClr val="A75E22">
              <a:alpha val="2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066800" y="9334500"/>
            <a:ext cx="477790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8C7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MINDS — 7TH EDITION</a:t>
            </a:r>
            <a:endParaRPr lang="en-US" sz="1875" dirty="0"/>
          </a:p>
        </p:txBody>
      </p:sp>
      <p:sp>
        <p:nvSpPr>
          <p:cNvPr id="35" name="Text 33"/>
          <p:cNvSpPr/>
          <p:nvPr/>
        </p:nvSpPr>
        <p:spPr>
          <a:xfrm>
            <a:off x="16859101" y="9334500"/>
            <a:ext cx="43829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8C7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8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742950"/>
            <a:ext cx="177698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488" kern="0" dirty="0">
                <a:solidFill>
                  <a:srgbClr val="A75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COMPARISON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66800" y="1238250"/>
            <a:ext cx="1776984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42" kern="0" dirty="0">
                <a:solidFill>
                  <a:srgbClr val="2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 vs Existing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66800" y="2276475"/>
            <a:ext cx="7915275" cy="6572250"/>
          </a:xfrm>
          <a:prstGeom prst="roundRect">
            <a:avLst>
              <a:gd name="adj" fmla="val 1449"/>
            </a:avLst>
          </a:prstGeom>
          <a:solidFill>
            <a:srgbClr val="1B0E05"/>
          </a:solidFill>
          <a:ln/>
        </p:spPr>
      </p:sp>
      <p:sp>
        <p:nvSpPr>
          <p:cNvPr id="5" name="Shape 3"/>
          <p:cNvSpPr/>
          <p:nvPr/>
        </p:nvSpPr>
        <p:spPr>
          <a:xfrm>
            <a:off x="1524000" y="2852738"/>
            <a:ext cx="133350" cy="133350"/>
          </a:xfrm>
          <a:prstGeom prst="ellipse">
            <a:avLst/>
          </a:prstGeom>
          <a:solidFill>
            <a:srgbClr val="C8923A"/>
          </a:solidFill>
          <a:ln/>
        </p:spPr>
      </p:sp>
      <p:sp>
        <p:nvSpPr>
          <p:cNvPr id="6" name="Text 4"/>
          <p:cNvSpPr/>
          <p:nvPr/>
        </p:nvSpPr>
        <p:spPr>
          <a:xfrm>
            <a:off x="1809750" y="2733675"/>
            <a:ext cx="215689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3E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524000" y="3429000"/>
            <a:ext cx="26774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2B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86992" y="3438525"/>
            <a:ext cx="3719347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3E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or advantage number one.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24000" y="3977580"/>
            <a:ext cx="26774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2B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86992" y="3987105"/>
            <a:ext cx="362568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3E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Faster, cheaper, or more accurate.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24000" y="4526161"/>
            <a:ext cx="26774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2B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86992" y="4535686"/>
            <a:ext cx="380028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3E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Addresses a previously unmet need.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24000" y="5074741"/>
            <a:ext cx="26774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2B4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86992" y="5084266"/>
            <a:ext cx="316963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3E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target user group.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305925" y="2276475"/>
            <a:ext cx="7915275" cy="6572250"/>
          </a:xfrm>
          <a:prstGeom prst="roundRect">
            <a:avLst>
              <a:gd name="adj" fmla="val 1449"/>
            </a:avLst>
          </a:prstGeom>
          <a:solidFill>
            <a:srgbClr val="EFE4CC"/>
          </a:solidFill>
          <a:ln w="9525">
            <a:solidFill>
              <a:srgbClr val="A75E22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72650" y="2862263"/>
            <a:ext cx="133350" cy="133350"/>
          </a:xfrm>
          <a:prstGeom prst="ellipse">
            <a:avLst/>
          </a:prstGeom>
          <a:solidFill>
            <a:srgbClr val="C9B690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0" y="2743200"/>
            <a:ext cx="310739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6E3F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Solutions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9772650" y="3438525"/>
            <a:ext cx="204341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59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72241" y="3448050"/>
            <a:ext cx="3783577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B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limitation in the current approach.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772650" y="3987105"/>
            <a:ext cx="204341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59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72241" y="3996630"/>
            <a:ext cx="374034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B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cost or slower performance.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772650" y="4535686"/>
            <a:ext cx="204341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59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072241" y="4545211"/>
            <a:ext cx="249123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B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gap left unaddressed.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772650" y="5084266"/>
            <a:ext cx="204341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B59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072241" y="5093791"/>
            <a:ext cx="274379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B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Harder for the target user.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66800" y="9134475"/>
            <a:ext cx="16154400" cy="9525"/>
          </a:xfrm>
          <a:prstGeom prst="rect">
            <a:avLst/>
          </a:prstGeom>
          <a:solidFill>
            <a:srgbClr val="A75E22">
              <a:alpha val="2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066800" y="9334500"/>
            <a:ext cx="477790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8C7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MINDS — 7TH EDITION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16859101" y="9334500"/>
            <a:ext cx="43829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8C7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8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742950"/>
            <a:ext cx="177698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488" kern="0" dirty="0">
                <a:solidFill>
                  <a:srgbClr val="A75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66800" y="1238250"/>
            <a:ext cx="1776984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42" kern="0" dirty="0">
                <a:solidFill>
                  <a:srgbClr val="2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vs Outcomes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66800" y="2276475"/>
            <a:ext cx="16154400" cy="714375"/>
          </a:xfrm>
          <a:prstGeom prst="rect">
            <a:avLst/>
          </a:prstGeom>
          <a:solidFill>
            <a:srgbClr val="1B0E05"/>
          </a:solidFill>
          <a:ln/>
        </p:spPr>
      </p:sp>
      <p:sp>
        <p:nvSpPr>
          <p:cNvPr id="5" name="Text 3"/>
          <p:cNvSpPr/>
          <p:nvPr/>
        </p:nvSpPr>
        <p:spPr>
          <a:xfrm>
            <a:off x="1352550" y="2486025"/>
            <a:ext cx="479605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F3E8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63767" y="2486025"/>
            <a:ext cx="279925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F3E8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836348" y="2486025"/>
            <a:ext cx="298581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F3E8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90054" y="2486025"/>
            <a:ext cx="377190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F3E8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66800" y="3776662"/>
            <a:ext cx="16154400" cy="9525"/>
          </a:xfrm>
          <a:prstGeom prst="rect">
            <a:avLst/>
          </a:prstGeom>
          <a:solidFill>
            <a:srgbClr val="A75E22">
              <a:alpha val="22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352550" y="3238500"/>
            <a:ext cx="479605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63767" y="3238500"/>
            <a:ext cx="2799259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B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90%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836348" y="3238500"/>
            <a:ext cx="298581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B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290054" y="3171825"/>
            <a:ext cx="1402110" cy="428625"/>
          </a:xfrm>
          <a:prstGeom prst="roundRect">
            <a:avLst>
              <a:gd name="adj" fmla="val 50000"/>
            </a:avLst>
          </a:prstGeom>
          <a:solidFill>
            <a:srgbClr val="3C7A3C">
              <a:alpha val="1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3442454" y="3238500"/>
            <a:ext cx="11735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7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ACHIEVED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66800" y="3786188"/>
            <a:ext cx="16154400" cy="800100"/>
          </a:xfrm>
          <a:prstGeom prst="rect">
            <a:avLst/>
          </a:prstGeom>
          <a:solidFill>
            <a:srgbClr val="A75E22">
              <a:alpha val="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66800" y="4576763"/>
            <a:ext cx="16154400" cy="9525"/>
          </a:xfrm>
          <a:prstGeom prst="rect">
            <a:avLst/>
          </a:prstGeom>
          <a:solidFill>
            <a:srgbClr val="A75E22">
              <a:alpha val="2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352550" y="4033837"/>
            <a:ext cx="479605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Time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63767" y="4033837"/>
            <a:ext cx="279925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B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200 ms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836348" y="4033837"/>
            <a:ext cx="298581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B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 ms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290054" y="3971925"/>
            <a:ext cx="1402110" cy="428625"/>
          </a:xfrm>
          <a:prstGeom prst="roundRect">
            <a:avLst>
              <a:gd name="adj" fmla="val 50000"/>
            </a:avLst>
          </a:prstGeom>
          <a:solidFill>
            <a:srgbClr val="3C7A3C">
              <a:alpha val="1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3442454" y="4038600"/>
            <a:ext cx="11735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7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ACHIEVED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66800" y="5376863"/>
            <a:ext cx="16154400" cy="9525"/>
          </a:xfrm>
          <a:prstGeom prst="rect">
            <a:avLst/>
          </a:prstGeom>
          <a:solidFill>
            <a:srgbClr val="A75E22">
              <a:alpha val="2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352550" y="4833938"/>
            <a:ext cx="479605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Satisfaction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63767" y="4833938"/>
            <a:ext cx="279925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B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4.5 / 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836348" y="4833938"/>
            <a:ext cx="298581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B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 / 5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3290054" y="4772025"/>
            <a:ext cx="1265039" cy="428625"/>
          </a:xfrm>
          <a:prstGeom prst="roundRect">
            <a:avLst>
              <a:gd name="adj" fmla="val 50000"/>
            </a:avLst>
          </a:prstGeom>
          <a:solidFill>
            <a:srgbClr val="A75E22">
              <a:alpha val="1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3442454" y="4838700"/>
            <a:ext cx="10364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6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066800" y="5386388"/>
            <a:ext cx="16154400" cy="800100"/>
          </a:xfrm>
          <a:prstGeom prst="rect">
            <a:avLst/>
          </a:prstGeom>
          <a:solidFill>
            <a:srgbClr val="A75E22">
              <a:alpha val="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66800" y="6176963"/>
            <a:ext cx="16154400" cy="9525"/>
          </a:xfrm>
          <a:prstGeom prst="rect">
            <a:avLst/>
          </a:prstGeom>
          <a:solidFill>
            <a:srgbClr val="A75E22">
              <a:alpha val="2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352550" y="5634038"/>
            <a:ext cx="479605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563767" y="5634038"/>
            <a:ext cx="279925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B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1k users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836348" y="5634038"/>
            <a:ext cx="298581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B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1.4k users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3290054" y="5572125"/>
            <a:ext cx="1402110" cy="428625"/>
          </a:xfrm>
          <a:prstGeom prst="roundRect">
            <a:avLst>
              <a:gd name="adj" fmla="val 50000"/>
            </a:avLst>
          </a:prstGeom>
          <a:solidFill>
            <a:srgbClr val="3C7A3C">
              <a:alpha val="1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3442454" y="5638800"/>
            <a:ext cx="11735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C7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ACHIEVED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066800" y="9134475"/>
            <a:ext cx="16154400" cy="9525"/>
          </a:xfrm>
          <a:prstGeom prst="rect">
            <a:avLst/>
          </a:prstGeom>
          <a:solidFill>
            <a:srgbClr val="A75E22">
              <a:alpha val="22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066800" y="9334500"/>
            <a:ext cx="477790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8C7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MINDS — 7TH EDITION</a:t>
            </a:r>
            <a:endParaRPr lang="en-US" sz="1875" dirty="0"/>
          </a:p>
        </p:txBody>
      </p:sp>
      <p:sp>
        <p:nvSpPr>
          <p:cNvPr id="37" name="Text 35"/>
          <p:cNvSpPr/>
          <p:nvPr/>
        </p:nvSpPr>
        <p:spPr>
          <a:xfrm>
            <a:off x="16859101" y="9334500"/>
            <a:ext cx="43829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8C7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8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4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00" y="742950"/>
            <a:ext cx="177698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488" kern="0" dirty="0">
                <a:solidFill>
                  <a:srgbClr val="A75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TEAM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66800" y="1238250"/>
            <a:ext cx="1776984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spc="-42" kern="0" dirty="0">
                <a:solidFill>
                  <a:srgbClr val="2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Profile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066800" y="3545235"/>
            <a:ext cx="3619500" cy="4053780"/>
          </a:xfrm>
          <a:prstGeom prst="roundRect">
            <a:avLst>
              <a:gd name="adj" fmla="val 2632"/>
            </a:avLst>
          </a:prstGeom>
          <a:solidFill>
            <a:srgbClr val="EEE3CC"/>
          </a:solidFill>
          <a:ln w="9525">
            <a:solidFill>
              <a:srgbClr val="A75E22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84921" y="5310188"/>
            <a:ext cx="1783110" cy="523875"/>
          </a:xfrm>
          <a:prstGeom prst="roundRect">
            <a:avLst>
              <a:gd name="adj" fmla="val 7273"/>
            </a:avLst>
          </a:prstGeom>
          <a:solidFill>
            <a:srgbClr val="FAF4E8"/>
          </a:solidFill>
          <a:ln/>
        </p:spPr>
      </p:sp>
      <p:sp>
        <p:nvSpPr>
          <p:cNvPr id="6" name="Text 4"/>
          <p:cNvSpPr/>
          <p:nvPr/>
        </p:nvSpPr>
        <p:spPr>
          <a:xfrm>
            <a:off x="2156371" y="5424488"/>
            <a:ext cx="15164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9B87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photo ]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72100" y="3698081"/>
            <a:ext cx="1303401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48" kern="0" dirty="0">
                <a:solidFill>
                  <a:srgbClr val="2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Full Name ]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372100" y="4498181"/>
            <a:ext cx="130340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A75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· ID 0000000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72100" y="5117306"/>
            <a:ext cx="7456170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250" dirty="0">
                <a:solidFill>
                  <a:srgbClr val="5B4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bio — area of focus within the project, contributions made, and a relevant skill or interest. Two or three sentences is plenty.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372100" y="6807994"/>
            <a:ext cx="217277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8C7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CONTRIBUTION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72100" y="7179469"/>
            <a:ext cx="21727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ML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956947" y="6807994"/>
            <a:ext cx="228573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8C7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956947" y="7179469"/>
            <a:ext cx="228573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A1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name@msa.edu.eg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66800" y="9134475"/>
            <a:ext cx="16154400" cy="9525"/>
          </a:xfrm>
          <a:prstGeom prst="rect">
            <a:avLst/>
          </a:prstGeom>
          <a:solidFill>
            <a:srgbClr val="A75E22">
              <a:alpha val="2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66800" y="9334500"/>
            <a:ext cx="477790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8C7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MINDS — 7TH EDITION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6859101" y="9334500"/>
            <a:ext cx="43829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300" kern="0" dirty="0">
                <a:solidFill>
                  <a:srgbClr val="8C7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8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A1708">
                  <a:alpha val="100000"/>
                </a:srgbClr>
              </a:gs>
              <a:gs pos="62000">
                <a:srgbClr val="1B0E05">
                  <a:alpha val="100000"/>
                </a:srgbClr>
              </a:gs>
            </a:gsLst>
            <a:path path="circle">
              <a:fillToRect l="20000" t="30000" r="80000" b="7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1143000"/>
            <a:ext cx="1781175" cy="2305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000"/>
              </a:lnSpc>
              <a:buNone/>
            </a:pPr>
            <a:r>
              <a:rPr lang="en-US" sz="25500" b="1" dirty="0">
                <a:solidFill>
                  <a:srgbClr val="E2B463">
                    <a:alpha val="1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25500" dirty="0"/>
          </a:p>
        </p:txBody>
      </p:sp>
      <p:sp>
        <p:nvSpPr>
          <p:cNvPr id="4" name="Text 2"/>
          <p:cNvSpPr/>
          <p:nvPr/>
        </p:nvSpPr>
        <p:spPr>
          <a:xfrm>
            <a:off x="1714500" y="3455194"/>
            <a:ext cx="13538835" cy="2376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4650" spc="-46" kern="0" dirty="0">
                <a:solidFill>
                  <a:srgbClr val="F3E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guiding principle, a vision statement, or a line of feedback that captures what the project is really about.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1714500" y="6541145"/>
            <a:ext cx="514350" cy="19050"/>
          </a:xfrm>
          <a:prstGeom prst="rect">
            <a:avLst/>
          </a:prstGeom>
          <a:gradFill rotWithShape="1">
            <a:gsLst>
              <a:gs pos="0">
                <a:srgbClr val="E7C079">
                  <a:alpha val="100000"/>
                </a:srgbClr>
              </a:gs>
              <a:gs pos="46000">
                <a:srgbClr val="C8923A">
                  <a:alpha val="100000"/>
                </a:srgbClr>
              </a:gs>
              <a:gs pos="100000">
                <a:srgbClr val="9E5C20">
                  <a:alpha val="100000"/>
                </a:srgbClr>
              </a:gs>
            </a:gsLst>
            <a:lin ang="1800000" scaled="0"/>
          </a:gradFill>
          <a:ln/>
        </p:spPr>
      </p:sp>
      <p:sp>
        <p:nvSpPr>
          <p:cNvPr id="6" name="Text 4"/>
          <p:cNvSpPr/>
          <p:nvPr/>
        </p:nvSpPr>
        <p:spPr>
          <a:xfrm>
            <a:off x="2457450" y="6269682"/>
            <a:ext cx="298739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E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Source Name ]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457450" y="6536382"/>
            <a:ext cx="298739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C9B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/ Affiliation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A1708">
                  <a:alpha val="100000"/>
                </a:srgbClr>
              </a:gs>
              <a:gs pos="70000">
                <a:srgbClr val="160B03">
                  <a:alpha val="100000"/>
                </a:srgbClr>
              </a:gs>
            </a:gsLst>
            <a:path path="circle">
              <a:fillToRect l="70000" t="40000" r="30000" b="60000"/>
            </a:path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rcRect l="0" r="0" t="-1" b="-1"/>
          <a:stretch/>
        </p:blipFill>
        <p:spPr>
          <a:xfrm>
            <a:off x="12701290" y="762000"/>
            <a:ext cx="5015210" cy="8763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40A03">
                  <a:alpha val="92000"/>
                </a:srgbClr>
              </a:gs>
              <a:gs pos="38000">
                <a:srgbClr val="140A03">
                  <a:alpha val="60000"/>
                </a:srgbClr>
              </a:gs>
              <a:gs pos="64000">
                <a:srgbClr val="140A03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" name="Text 2"/>
          <p:cNvSpPr/>
          <p:nvPr/>
        </p:nvSpPr>
        <p:spPr>
          <a:xfrm>
            <a:off x="1066800" y="6099870"/>
            <a:ext cx="9220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488" kern="0" dirty="0">
                <a:solidFill>
                  <a:srgbClr val="E2B4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FULL-BLEED VISUAL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1066800" y="6633270"/>
            <a:ext cx="8633460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b="1" spc="-114" kern="0" dirty="0">
                <a:solidFill>
                  <a:srgbClr val="F3E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visual that speaks for itself</a:t>
            </a:r>
            <a:endParaRPr lang="en-US" sz="5700" dirty="0"/>
          </a:p>
        </p:txBody>
      </p:sp>
      <p:sp>
        <p:nvSpPr>
          <p:cNvPr id="7" name="Text 4"/>
          <p:cNvSpPr/>
          <p:nvPr/>
        </p:nvSpPr>
        <p:spPr>
          <a:xfrm>
            <a:off x="1066800" y="8362950"/>
            <a:ext cx="863346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C9B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in a product shot, demo frame, or hero render. Keep the caption short and let the image carry the slide.</a:t>
            </a:r>
            <a:endParaRPr lang="en-US" sz="2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A1708">
                  <a:alpha val="100000"/>
                </a:srgbClr>
              </a:gs>
              <a:gs pos="58000">
                <a:srgbClr val="1B0E05">
                  <a:alpha val="100000"/>
                </a:srgbClr>
              </a:gs>
            </a:gsLst>
            <a:path path="circle">
              <a:fillToRect l="80000" t="75000" r="20000" b="25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3238500" y="4191000"/>
            <a:ext cx="9525000" cy="9525000"/>
          </a:xfrm>
          <a:prstGeom prst="ellipse">
            <a:avLst/>
          </a:prstGeom>
          <a:ln w="9525">
            <a:solidFill>
              <a:srgbClr val="E2B463">
                <a:alpha val="9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66800" y="742950"/>
            <a:ext cx="515509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413" kern="0" dirty="0">
                <a:solidFill>
                  <a:srgbClr val="E2B4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MINDS · 7TH EDITION</a:t>
            </a:r>
            <a:endParaRPr lang="en-US" sz="187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78200" y="742950"/>
            <a:ext cx="1143000" cy="1143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6800" y="4348163"/>
            <a:ext cx="17769840" cy="1304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0" b="1" spc="-210" kern="0" dirty="0">
                <a:gradFill rotWithShape="1">
                  <a:gsLst>
                    <a:gs pos="0">
                      <a:srgbClr val="E7C079">
                        <a:alpha val="100000"/>
                      </a:srgbClr>
                    </a:gs>
                    <a:gs pos="46000">
                      <a:srgbClr val="C8923A">
                        <a:alpha val="100000"/>
                      </a:srgbClr>
                    </a:gs>
                    <a:gs pos="100000">
                      <a:srgbClr val="9E5C20">
                        <a:alpha val="100000"/>
                      </a:srgbClr>
                    </a:gs>
                  </a:gsLst>
                  <a:lin ang="1800000" scaled="0"/>
                </a:gra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0500" dirty="0"/>
          </a:p>
        </p:txBody>
      </p:sp>
      <p:sp>
        <p:nvSpPr>
          <p:cNvPr id="7" name="Text 4"/>
          <p:cNvSpPr/>
          <p:nvPr/>
        </p:nvSpPr>
        <p:spPr>
          <a:xfrm>
            <a:off x="1066800" y="5843588"/>
            <a:ext cx="1776984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3E8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Excellence Takes Center Stage</a:t>
            </a:r>
            <a:endParaRPr lang="en-US" sz="2550" dirty="0"/>
          </a:p>
        </p:txBody>
      </p:sp>
      <p:sp>
        <p:nvSpPr>
          <p:cNvPr id="8" name="Shape 5"/>
          <p:cNvSpPr/>
          <p:nvPr/>
        </p:nvSpPr>
        <p:spPr>
          <a:xfrm>
            <a:off x="1066800" y="8715375"/>
            <a:ext cx="16154400" cy="9525"/>
          </a:xfrm>
          <a:prstGeom prst="rect">
            <a:avLst/>
          </a:prstGeom>
          <a:solidFill>
            <a:srgbClr val="E2B463">
              <a:alpha val="2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66800" y="8991600"/>
            <a:ext cx="22631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C7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66800" y="9363075"/>
            <a:ext cx="22631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3E8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team@msa.edu.eg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733800" y="8991600"/>
            <a:ext cx="25650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C7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733800" y="9363075"/>
            <a:ext cx="25650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3E8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Project Title ]</a:t>
            </a:r>
            <a:endParaRPr lang="en-US" sz="18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16177915" y="9163050"/>
            <a:ext cx="1043285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A1708">
                  <a:alpha val="100000"/>
                </a:srgbClr>
              </a:gs>
              <a:gs pos="60000">
                <a:srgbClr val="1B0E05">
                  <a:alpha val="100000"/>
                </a:srgbClr>
              </a:gs>
            </a:gsLst>
            <a:path path="circle">
              <a:fillToRect l="50000" t="30000" r="50000" b="7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3238500" y="-762000"/>
            <a:ext cx="11811000" cy="11811000"/>
          </a:xfrm>
          <a:prstGeom prst="ellipse">
            <a:avLst/>
          </a:prstGeom>
          <a:ln w="9525">
            <a:solidFill>
              <a:srgbClr val="E2B463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43500" y="1143000"/>
            <a:ext cx="8001000" cy="8001000"/>
          </a:xfrm>
          <a:prstGeom prst="ellipse">
            <a:avLst/>
          </a:prstGeom>
          <a:ln w="9525">
            <a:solidFill>
              <a:srgbClr val="E2B463">
                <a:alpha val="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65125" y="3414713"/>
            <a:ext cx="235760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spc="563" kern="0" dirty="0">
                <a:solidFill>
                  <a:srgbClr val="E2B4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DISCUSSION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6463077" y="4062412"/>
            <a:ext cx="5361697" cy="209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8000" b="1" spc="-540" kern="0" dirty="0">
                <a:gradFill rotWithShape="1">
                  <a:gsLst>
                    <a:gs pos="0">
                      <a:srgbClr val="E7C079">
                        <a:alpha val="100000"/>
                      </a:srgbClr>
                    </a:gs>
                    <a:gs pos="46000">
                      <a:srgbClr val="C8923A">
                        <a:alpha val="100000"/>
                      </a:srgbClr>
                    </a:gs>
                    <a:gs pos="100000">
                      <a:srgbClr val="9E5C20">
                        <a:alpha val="100000"/>
                      </a:srgbClr>
                    </a:gs>
                  </a:gsLst>
                  <a:lin ang="1800000" scaled="0"/>
                </a:gra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18000" dirty="0"/>
          </a:p>
        </p:txBody>
      </p:sp>
      <p:sp>
        <p:nvSpPr>
          <p:cNvPr id="7" name="Text 5"/>
          <p:cNvSpPr/>
          <p:nvPr/>
        </p:nvSpPr>
        <p:spPr>
          <a:xfrm>
            <a:off x="5642878" y="6443663"/>
            <a:ext cx="700224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C9B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welcome your questions, feedback, and ideas.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2026-06-27T18:23:02Z</dcterms:created>
  <dcterms:modified xsi:type="dcterms:W3CDTF">2026-06-27T18:23:02Z</dcterms:modified>
</cp:coreProperties>
</file>